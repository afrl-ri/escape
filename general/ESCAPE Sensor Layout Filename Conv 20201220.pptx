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4"/>
    <p:sldMasterId id="2147483730" r:id="rId5"/>
  </p:sldMasterIdLst>
  <p:notesMasterIdLst>
    <p:notesMasterId r:id="rId14"/>
  </p:notesMasterIdLst>
  <p:handoutMasterIdLst>
    <p:handoutMasterId r:id="rId15"/>
  </p:handoutMasterIdLst>
  <p:sldIdLst>
    <p:sldId id="330" r:id="rId6"/>
    <p:sldId id="469" r:id="rId7"/>
    <p:sldId id="473" r:id="rId8"/>
    <p:sldId id="470" r:id="rId9"/>
    <p:sldId id="474" r:id="rId10"/>
    <p:sldId id="475" r:id="rId11"/>
    <p:sldId id="472" r:id="rId12"/>
    <p:sldId id="471" r:id="rId1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34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ADC2DB"/>
    <a:srgbClr val="FF00FF"/>
    <a:srgbClr val="000099"/>
    <a:srgbClr val="0000FF"/>
    <a:srgbClr val="660066"/>
    <a:srgbClr val="C6D4E4"/>
    <a:srgbClr val="034B92"/>
    <a:srgbClr val="E9E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73" autoAdjust="0"/>
    <p:restoredTop sz="97656" autoAdjust="0"/>
  </p:normalViewPr>
  <p:slideViewPr>
    <p:cSldViewPr>
      <p:cViewPr varScale="1">
        <p:scale>
          <a:sx n="119" d="100"/>
          <a:sy n="119" d="100"/>
        </p:scale>
        <p:origin x="102" y="876"/>
      </p:cViewPr>
      <p:guideLst>
        <p:guide orient="horz" pos="3840"/>
        <p:guide pos="3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714" y="-8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D0E95-ACF0-42EC-9025-57B98D9E795D}" type="datetimeFigureOut">
              <a:rPr lang="en-US" smtClean="0"/>
              <a:t>12/20/2020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E35E3-B456-452F-8381-D2BCB826F7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93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60" tIns="46580" rIns="93160" bIns="4658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60" tIns="46580" rIns="93160" bIns="46580" rtlCol="0"/>
          <a:lstStyle>
            <a:lvl1pPr algn="r">
              <a:defRPr sz="1200"/>
            </a:lvl1pPr>
          </a:lstStyle>
          <a:p>
            <a:fld id="{65C58875-E93A-41D8-95F9-BF6DB4C6F479}" type="datetimeFigureOut">
              <a:rPr lang="en-CA" smtClean="0"/>
              <a:pPr/>
              <a:t>2020-12-20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8500"/>
            <a:ext cx="4645025" cy="3484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0" tIns="46580" rIns="93160" bIns="4658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2"/>
            <a:ext cx="5608320" cy="4183380"/>
          </a:xfrm>
          <a:prstGeom prst="rect">
            <a:avLst/>
          </a:prstGeom>
        </p:spPr>
        <p:txBody>
          <a:bodyPr vert="horz" lIns="93160" tIns="46580" rIns="93160" bIns="4658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9"/>
            <a:ext cx="3037840" cy="464820"/>
          </a:xfrm>
          <a:prstGeom prst="rect">
            <a:avLst/>
          </a:prstGeom>
        </p:spPr>
        <p:txBody>
          <a:bodyPr vert="horz" lIns="93160" tIns="46580" rIns="93160" bIns="4658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9"/>
            <a:ext cx="3037840" cy="464820"/>
          </a:xfrm>
          <a:prstGeom prst="rect">
            <a:avLst/>
          </a:prstGeom>
        </p:spPr>
        <p:txBody>
          <a:bodyPr vert="horz" lIns="93160" tIns="46580" rIns="93160" bIns="46580" rtlCol="0" anchor="b"/>
          <a:lstStyle>
            <a:lvl1pPr algn="r">
              <a:defRPr sz="1200"/>
            </a:lvl1pPr>
          </a:lstStyle>
          <a:p>
            <a:fld id="{EABADF3B-7EFC-4A41-8083-E8BCAC0B1F4E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935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anchor="ctr" anchorCtr="0"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12" name="Picture 11" descr="AFRL Shield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43502" y="1625927"/>
            <a:ext cx="3566498" cy="3561957"/>
          </a:xfrm>
          <a:prstGeom prst="rect">
            <a:avLst/>
          </a:prstGeom>
        </p:spPr>
      </p:pic>
      <p:pic>
        <p:nvPicPr>
          <p:cNvPr id="9" name="Picture 8" descr="AFRL Shield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8007178" y="97740"/>
            <a:ext cx="936386" cy="935194"/>
          </a:xfrm>
          <a:prstGeom prst="rect">
            <a:avLst/>
          </a:prstGeom>
        </p:spPr>
      </p:pic>
      <p:sp>
        <p:nvSpPr>
          <p:cNvPr id="11" name="Rectangle 73"/>
          <p:cNvSpPr>
            <a:spLocks noChangeArrowheads="1"/>
          </p:cNvSpPr>
          <p:nvPr userDrawn="1"/>
        </p:nvSpPr>
        <p:spPr bwMode="auto">
          <a:xfrm>
            <a:off x="0" y="1079025"/>
            <a:ext cx="9144000" cy="4571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endParaRPr lang="en-US"/>
          </a:p>
        </p:txBody>
      </p:sp>
      <p:sp>
        <p:nvSpPr>
          <p:cNvPr id="13" name="Text Box 2"/>
          <p:cNvSpPr txBox="1">
            <a:spLocks noChangeArrowheads="1"/>
          </p:cNvSpPr>
          <p:nvPr userDrawn="1"/>
        </p:nvSpPr>
        <p:spPr bwMode="auto">
          <a:xfrm>
            <a:off x="0" y="5231867"/>
            <a:ext cx="4032448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Integrity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Wingdings" pitchFamily="2" charset="2"/>
              </a:rPr>
              <a:t>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Service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sym typeface="Wingdings" pitchFamily="2" charset="2"/>
              </a:rPr>
              <a:t> </a:t>
            </a:r>
            <a:r>
              <a:rPr lang="en-US" sz="1800" b="1" i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</a:rPr>
              <a:t>Excellence</a:t>
            </a:r>
          </a:p>
        </p:txBody>
      </p:sp>
      <p:sp>
        <p:nvSpPr>
          <p:cNvPr id="15" name="Text Box 2"/>
          <p:cNvSpPr txBox="1">
            <a:spLocks noChangeArrowheads="1"/>
          </p:cNvSpPr>
          <p:nvPr userDrawn="1"/>
        </p:nvSpPr>
        <p:spPr bwMode="auto">
          <a:xfrm>
            <a:off x="4800600" y="3124200"/>
            <a:ext cx="4038600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  <a:defRPr/>
            </a:pPr>
            <a:endParaRPr lang="en-US" sz="2000" b="1" i="0" dirty="0">
              <a:effectLst/>
              <a:latin typeface="Arial" pitchFamily="34" charset="0"/>
            </a:endParaRPr>
          </a:p>
        </p:txBody>
      </p:sp>
      <p:sp>
        <p:nvSpPr>
          <p:cNvPr id="1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648200" y="1600201"/>
            <a:ext cx="4038600" cy="1676400"/>
          </a:xfrm>
          <a:prstGeom prst="rect">
            <a:avLst/>
          </a:prstGeom>
        </p:spPr>
        <p:txBody>
          <a:bodyPr anchor="ctr" anchorCtr="0"/>
          <a:lstStyle>
            <a:lvl1pPr algn="r">
              <a:buNone/>
              <a:defRPr sz="2800" b="1">
                <a:latin typeface="Arial" pitchFamily="34" charset="0"/>
                <a:cs typeface="Arial" pitchFamily="34" charset="0"/>
              </a:defRPr>
            </a:lvl1pPr>
            <a:lvl2pPr>
              <a:defRPr sz="2400" b="1">
                <a:latin typeface="Arial" pitchFamily="34" charset="0"/>
                <a:cs typeface="Arial" pitchFamily="34" charset="0"/>
              </a:defRPr>
            </a:lvl2pPr>
            <a:lvl3pPr>
              <a:defRPr sz="2000" b="1">
                <a:latin typeface="Arial" pitchFamily="34" charset="0"/>
                <a:cs typeface="Arial" pitchFamily="34" charset="0"/>
              </a:defRPr>
            </a:lvl3pPr>
            <a:lvl4pPr>
              <a:defRPr sz="1800" b="1">
                <a:latin typeface="Arial" pitchFamily="34" charset="0"/>
                <a:cs typeface="Arial" pitchFamily="34" charset="0"/>
              </a:defRPr>
            </a:lvl4pPr>
            <a:lvl5pPr>
              <a:defRPr sz="1600" b="1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Briefing Title</a:t>
            </a:r>
          </a:p>
        </p:txBody>
      </p:sp>
      <p:sp>
        <p:nvSpPr>
          <p:cNvPr id="16" name="Content Placeholder 3"/>
          <p:cNvSpPr>
            <a:spLocks noGrp="1"/>
          </p:cNvSpPr>
          <p:nvPr userDrawn="1">
            <p:ph sz="half" idx="10" hasCustomPrompt="1"/>
          </p:nvPr>
        </p:nvSpPr>
        <p:spPr>
          <a:xfrm>
            <a:off x="4648200" y="3657600"/>
            <a:ext cx="4038600" cy="533400"/>
          </a:xfrm>
          <a:prstGeom prst="rect">
            <a:avLst/>
          </a:prstGeom>
        </p:spPr>
        <p:txBody>
          <a:bodyPr anchor="ctr" anchorCtr="0"/>
          <a:lstStyle>
            <a:lvl1pPr algn="r">
              <a:buNone/>
              <a:defRPr sz="2000" b="1">
                <a:latin typeface="Arial" pitchFamily="34" charset="0"/>
                <a:cs typeface="Arial" pitchFamily="34" charset="0"/>
              </a:defRPr>
            </a:lvl1pPr>
            <a:lvl2pPr>
              <a:defRPr sz="2400" b="1">
                <a:latin typeface="Arial" pitchFamily="34" charset="0"/>
                <a:cs typeface="Arial" pitchFamily="34" charset="0"/>
              </a:defRPr>
            </a:lvl2pPr>
            <a:lvl3pPr>
              <a:defRPr sz="2000" b="1">
                <a:latin typeface="Arial" pitchFamily="34" charset="0"/>
                <a:cs typeface="Arial" pitchFamily="34" charset="0"/>
              </a:defRPr>
            </a:lvl3pPr>
            <a:lvl4pPr>
              <a:defRPr sz="1800" b="1">
                <a:latin typeface="Arial" pitchFamily="34" charset="0"/>
                <a:cs typeface="Arial" pitchFamily="34" charset="0"/>
              </a:defRPr>
            </a:lvl4pPr>
            <a:lvl5pPr>
              <a:defRPr sz="1600" b="1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Date: DD MM YYYY</a:t>
            </a:r>
          </a:p>
        </p:txBody>
      </p:sp>
      <p:sp>
        <p:nvSpPr>
          <p:cNvPr id="17" name="Content Placeholder 3"/>
          <p:cNvSpPr>
            <a:spLocks noGrp="1"/>
          </p:cNvSpPr>
          <p:nvPr userDrawn="1">
            <p:ph sz="half" idx="11" hasCustomPrompt="1"/>
          </p:nvPr>
        </p:nvSpPr>
        <p:spPr>
          <a:xfrm>
            <a:off x="4648200" y="4495800"/>
            <a:ext cx="4038600" cy="1676400"/>
          </a:xfrm>
          <a:prstGeom prst="rect">
            <a:avLst/>
          </a:prstGeom>
        </p:spPr>
        <p:txBody>
          <a:bodyPr anchor="ctr" anchorCtr="0"/>
          <a:lstStyle>
            <a:lvl1pPr algn="r">
              <a:buNone/>
              <a:defRPr sz="2000" b="1">
                <a:latin typeface="Arial" pitchFamily="34" charset="0"/>
                <a:cs typeface="Arial" pitchFamily="34" charset="0"/>
              </a:defRPr>
            </a:lvl1pPr>
            <a:lvl2pPr>
              <a:defRPr sz="2400" b="1">
                <a:latin typeface="Arial" pitchFamily="34" charset="0"/>
                <a:cs typeface="Arial" pitchFamily="34" charset="0"/>
              </a:defRPr>
            </a:lvl2pPr>
            <a:lvl3pPr>
              <a:defRPr sz="2000" b="1">
                <a:latin typeface="Arial" pitchFamily="34" charset="0"/>
                <a:cs typeface="Arial" pitchFamily="34" charset="0"/>
              </a:defRPr>
            </a:lvl3pPr>
            <a:lvl4pPr>
              <a:defRPr sz="1800" b="1">
                <a:latin typeface="Arial" pitchFamily="34" charset="0"/>
                <a:cs typeface="Arial" pitchFamily="34" charset="0"/>
              </a:defRPr>
            </a:lvl4pPr>
            <a:lvl5pPr>
              <a:defRPr sz="1600" b="1">
                <a:latin typeface="Arial" pitchFamily="34" charset="0"/>
                <a:cs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Name, Rank, Office Symbol,   Air Force Research Laboratory (each on separate lines)</a:t>
            </a:r>
          </a:p>
          <a:p>
            <a:pPr lvl="0"/>
            <a:endParaRPr lang="en-US" dirty="0" smtClean="0"/>
          </a:p>
        </p:txBody>
      </p:sp>
      <p:sp>
        <p:nvSpPr>
          <p:cNvPr id="18" name="Text Box 5"/>
          <p:cNvSpPr txBox="1">
            <a:spLocks noChangeArrowheads="1"/>
          </p:cNvSpPr>
          <p:nvPr userDrawn="1"/>
        </p:nvSpPr>
        <p:spPr bwMode="auto">
          <a:xfrm>
            <a:off x="457200" y="6400800"/>
            <a:ext cx="6248400" cy="400110"/>
          </a:xfrm>
          <a:prstGeom prst="rect">
            <a:avLst/>
          </a:prstGeom>
          <a:solidFill>
            <a:schemeClr val="bg1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000" b="1" dirty="0" smtClean="0"/>
              <a:t>Distribution A:</a:t>
            </a:r>
            <a:r>
              <a:rPr lang="en-US" sz="1000" dirty="0" smtClean="0"/>
              <a:t> Approved for public release; distribution is unlimited.  Cleared for public release on 27 March 2019, Case #: 88ABW-2019-1349.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anchor="ctr"/>
          <a:lstStyle>
            <a:lvl1pPr>
              <a:defRPr lang="en-US" sz="3200" b="1" kern="1200" dirty="0" smtClean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anchor="ctr" anchorCtr="0"/>
          <a:lstStyle>
            <a:lvl1pPr>
              <a:defRPr sz="32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</p:spPr>
        <p:txBody>
          <a:bodyPr/>
          <a:lstStyle>
            <a:lvl1pPr marL="228600" indent="-228600" defTabSz="893763">
              <a:lnSpc>
                <a:spcPct val="95000"/>
              </a:lnSpc>
              <a:spcBef>
                <a:spcPts val="600"/>
              </a:spcBef>
              <a:buFont typeface="Arial" pitchFamily="34" charset="0"/>
              <a:buChar char="•"/>
              <a:tabLst/>
              <a:defRPr sz="1800" b="1">
                <a:latin typeface="Arial" pitchFamily="34" charset="0"/>
                <a:cs typeface="Arial" pitchFamily="34" charset="0"/>
              </a:defRPr>
            </a:lvl1pPr>
            <a:lvl2pPr marL="454025" indent="-234950">
              <a:lnSpc>
                <a:spcPct val="95000"/>
              </a:lnSpc>
              <a:spcBef>
                <a:spcPts val="600"/>
              </a:spcBef>
              <a:defRPr sz="1600" b="1">
                <a:latin typeface="Arial" pitchFamily="34" charset="0"/>
                <a:cs typeface="Arial" pitchFamily="34" charset="0"/>
              </a:defRPr>
            </a:lvl2pPr>
            <a:lvl3pPr marL="685800" indent="-228600">
              <a:lnSpc>
                <a:spcPct val="95000"/>
              </a:lnSpc>
              <a:spcBef>
                <a:spcPts val="600"/>
              </a:spcBef>
              <a:defRPr sz="1400" b="1">
                <a:latin typeface="Arial" pitchFamily="34" charset="0"/>
                <a:cs typeface="Arial" pitchFamily="34" charset="0"/>
              </a:defRPr>
            </a:lvl3pPr>
            <a:lvl4pPr marL="914400" indent="-228600">
              <a:lnSpc>
                <a:spcPct val="95000"/>
              </a:lnSpc>
              <a:spcBef>
                <a:spcPts val="600"/>
              </a:spcBef>
              <a:defRPr sz="1200" b="1">
                <a:latin typeface="Arial" pitchFamily="34" charset="0"/>
                <a:cs typeface="Arial" pitchFamily="34" charset="0"/>
              </a:defRPr>
            </a:lvl4pPr>
            <a:lvl5pPr marL="1143000" indent="-228600">
              <a:lnSpc>
                <a:spcPct val="95000"/>
              </a:lnSpc>
              <a:spcBef>
                <a:spcPts val="600"/>
              </a:spcBef>
              <a:buFont typeface="Arial" pitchFamily="34" charset="0"/>
              <a:buChar char="•"/>
              <a:defRPr sz="1200" b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45044D9-DFD6-4955-B56A-D4D40C707894}" type="datetimeFigureOut">
              <a:rPr lang="en-US" smtClean="0"/>
              <a:pPr/>
              <a:t>12/20/2020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FCA37BE-2256-40DF-A1E6-2D0988E776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99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058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91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65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6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073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2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6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020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630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13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9"/>
          <p:cNvSpPr txBox="1">
            <a:spLocks noChangeArrowheads="1"/>
          </p:cNvSpPr>
          <p:nvPr/>
        </p:nvSpPr>
        <p:spPr bwMode="auto">
          <a:xfrm>
            <a:off x="7315200" y="6550223"/>
            <a:ext cx="1828800" cy="30777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anchor="ctr">
            <a:spAutoFit/>
          </a:bodyPr>
          <a:lstStyle/>
          <a:p>
            <a:pPr algn="r">
              <a:spcBef>
                <a:spcPct val="50000"/>
              </a:spcBef>
            </a:pPr>
            <a:fld id="{FECCACFC-A1DF-4E05-81FF-9C3E99D1E2C5}" type="slidenum">
              <a:rPr lang="en-US" sz="1400" b="0">
                <a:latin typeface="Arial" pitchFamily="34" charset="0"/>
                <a:cs typeface="Arial" pitchFamily="34" charset="0"/>
              </a:rPr>
              <a:pPr algn="r">
                <a:spcBef>
                  <a:spcPct val="50000"/>
                </a:spcBef>
              </a:pPr>
              <a:t>‹#›</a:t>
            </a:fld>
            <a:endParaRPr lang="en-US" sz="14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691680" y="6594626"/>
            <a:ext cx="5760640" cy="215444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800" b="1" dirty="0" smtClean="0">
                <a:solidFill>
                  <a:schemeClr val="tx1"/>
                </a:solidFill>
                <a:latin typeface="Arial" pitchFamily="34" charset="0"/>
              </a:rPr>
              <a:t>LIMITED</a:t>
            </a:r>
            <a:r>
              <a:rPr lang="en-US" sz="800" b="1" baseline="0" dirty="0" smtClean="0">
                <a:solidFill>
                  <a:schemeClr val="tx1"/>
                </a:solidFill>
                <a:latin typeface="Arial" pitchFamily="34" charset="0"/>
              </a:rPr>
              <a:t> DISTRIBUTION – SEE COVER PAGE</a:t>
            </a:r>
            <a:endParaRPr lang="en-US" sz="800" dirty="0" smtClean="0">
              <a:solidFill>
                <a:schemeClr val="tx1"/>
              </a:solidFill>
              <a:latin typeface="Arial" pitchFamily="34" charset="0"/>
            </a:endParaRPr>
          </a:p>
        </p:txBody>
      </p:sp>
      <p:pic>
        <p:nvPicPr>
          <p:cNvPr id="5" name="Picture 2" descr="C:\Users\HectorHA\AppData\Local\Microsoft\Windows\Temporary Internet Files\Content.Outlook\MKL35CXM\AFRL Globe no tag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288" y="6288205"/>
            <a:ext cx="1402948" cy="557438"/>
          </a:xfrm>
          <a:prstGeom prst="rect">
            <a:avLst/>
          </a:prstGeom>
          <a:noFill/>
        </p:spPr>
      </p:pic>
      <p:pic>
        <p:nvPicPr>
          <p:cNvPr id="7" name="Picture 6" descr="AFRL Shield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007178" y="97740"/>
            <a:ext cx="936386" cy="935194"/>
          </a:xfrm>
          <a:prstGeom prst="rect">
            <a:avLst/>
          </a:prstGeom>
        </p:spPr>
      </p:pic>
      <p:sp>
        <p:nvSpPr>
          <p:cNvPr id="11" name="Rectangle 73"/>
          <p:cNvSpPr>
            <a:spLocks noChangeArrowheads="1"/>
          </p:cNvSpPr>
          <p:nvPr/>
        </p:nvSpPr>
        <p:spPr bwMode="auto">
          <a:xfrm>
            <a:off x="0" y="1079025"/>
            <a:ext cx="9144000" cy="45719"/>
          </a:xfrm>
          <a:prstGeom prst="rect">
            <a:avLst/>
          </a:prstGeom>
          <a:solidFill>
            <a:srgbClr val="000099"/>
          </a:solidFill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/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675" y="47625"/>
            <a:ext cx="1120775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49" r:id="rId2"/>
    <p:sldLayoutId id="2147483702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39522-488E-4DE6-B655-AADB030040B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12/20/2020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ACF6D5-00A3-4D6F-9B3B-F191C60D67A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53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half" idx="11"/>
          </p:nvPr>
        </p:nvSpPr>
        <p:spPr>
          <a:xfrm>
            <a:off x="5410200" y="4419600"/>
            <a:ext cx="3657600" cy="1676400"/>
          </a:xfrm>
        </p:spPr>
        <p:txBody>
          <a:bodyPr/>
          <a:lstStyle/>
          <a:p>
            <a:pPr algn="l"/>
            <a:r>
              <a:rPr lang="en-US" dirty="0" smtClean="0"/>
              <a:t>AFRL:</a:t>
            </a:r>
          </a:p>
          <a:p>
            <a:r>
              <a:rPr lang="en-US" dirty="0" smtClean="0"/>
              <a:t>Peter </a:t>
            </a:r>
            <a:r>
              <a:rPr lang="en-US" dirty="0" err="1" smtClean="0"/>
              <a:t>Zulch,</a:t>
            </a:r>
            <a:r>
              <a:rPr lang="en-US" dirty="0" smtClean="0"/>
              <a:t> AFRL RIGC</a:t>
            </a:r>
          </a:p>
          <a:p>
            <a:endParaRPr lang="en-US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ESCAPE Data Collection</a:t>
            </a:r>
          </a:p>
          <a:p>
            <a:r>
              <a:rPr lang="en-US" dirty="0" smtClean="0"/>
              <a:t>Sensor Layout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4680857" y="3314700"/>
            <a:ext cx="4038600" cy="533400"/>
          </a:xfrm>
        </p:spPr>
        <p:txBody>
          <a:bodyPr/>
          <a:lstStyle/>
          <a:p>
            <a:r>
              <a:rPr lang="en-US" dirty="0" smtClean="0"/>
              <a:t>June/October 2018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3" name="Isosceles Triangle 2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53" y="59980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/>
        </p:nvSpPr>
        <p:spPr>
          <a:xfrm>
            <a:off x="3245239" y="652762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77" y="910527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2641517" y="96064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02" y="1240191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2279679" y="1300545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3056174" y="362612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5201776" y="4157191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39970" y="3895667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277" y="1582875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6" name="Isosceles Triangle 45"/>
          <p:cNvSpPr/>
          <p:nvPr/>
        </p:nvSpPr>
        <p:spPr>
          <a:xfrm>
            <a:off x="2249662" y="1641629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Isosceles Triangle 47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19459" y="33384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51" name="Isosceles Triangle 50"/>
          <p:cNvSpPr/>
          <p:nvPr/>
        </p:nvSpPr>
        <p:spPr>
          <a:xfrm>
            <a:off x="5527614" y="6557058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Isosceles Triangle 38"/>
          <p:cNvSpPr/>
          <p:nvPr/>
        </p:nvSpPr>
        <p:spPr>
          <a:xfrm>
            <a:off x="4505159" y="3708811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Isosceles Triangle 40"/>
          <p:cNvSpPr/>
          <p:nvPr/>
        </p:nvSpPr>
        <p:spPr>
          <a:xfrm>
            <a:off x="4183979" y="5385278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Isosceles Triangle 41"/>
          <p:cNvSpPr/>
          <p:nvPr/>
        </p:nvSpPr>
        <p:spPr>
          <a:xfrm>
            <a:off x="4534899" y="4696154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Isosceles Triangle 42"/>
          <p:cNvSpPr/>
          <p:nvPr/>
        </p:nvSpPr>
        <p:spPr>
          <a:xfrm>
            <a:off x="4519540" y="421666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Isosceles Triangle 46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7935" y="29138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6465" y="5873973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93313" y="136374"/>
            <a:ext cx="219483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prstClr val="white"/>
                </a:solidFill>
              </a:rPr>
              <a:t>Dates: 06/25/2018</a:t>
            </a:r>
          </a:p>
          <a:p>
            <a:r>
              <a:rPr lang="en-US" sz="2000" b="1" dirty="0">
                <a:solidFill>
                  <a:prstClr val="white"/>
                </a:solidFill>
              </a:rPr>
              <a:t> </a:t>
            </a:r>
            <a:r>
              <a:rPr lang="en-US" sz="2000" b="1" dirty="0" smtClean="0">
                <a:solidFill>
                  <a:prstClr val="white"/>
                </a:solidFill>
              </a:rPr>
              <a:t>            06/29/2018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Scenarios: 1, 2, 8</a:t>
            </a:r>
          </a:p>
          <a:p>
            <a:endParaRPr lang="en-US" sz="2400" b="1" u="sng" dirty="0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90266" y="2793288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 rot="15937197">
            <a:off x="4419796" y="5332196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12579" y="2952853"/>
            <a:ext cx="144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Dir., Vehicle Staging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Emitter Control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11308" y="1721375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183393" y="4918926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58243" y="5086673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92182" y="4218742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5649830" y="4176196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040476" y="1984405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8277" y="1880582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961109" y="4110424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2845296" y="4299108"/>
            <a:ext cx="1028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139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3" name="Isosceles Triangle 2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53" y="59980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/>
        </p:nvSpPr>
        <p:spPr>
          <a:xfrm>
            <a:off x="3245239" y="652762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277" y="910527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>
            <a:off x="2641517" y="96064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702" y="1240191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/>
        </p:nvSpPr>
        <p:spPr>
          <a:xfrm>
            <a:off x="2279679" y="1300545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3056174" y="362612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5201776" y="4157191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Isosceles Triangle 27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39970" y="3895667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277" y="1582875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46" name="Isosceles Triangle 45"/>
          <p:cNvSpPr/>
          <p:nvPr/>
        </p:nvSpPr>
        <p:spPr>
          <a:xfrm>
            <a:off x="2249662" y="1641629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8" name="Isosceles Triangle 47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619459" y="333847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51" name="Isosceles Triangle 50"/>
          <p:cNvSpPr/>
          <p:nvPr/>
        </p:nvSpPr>
        <p:spPr>
          <a:xfrm>
            <a:off x="5527614" y="6557058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Isosceles Triangle 38"/>
          <p:cNvSpPr/>
          <p:nvPr/>
        </p:nvSpPr>
        <p:spPr>
          <a:xfrm>
            <a:off x="4505159" y="3708811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1" name="Isosceles Triangle 40"/>
          <p:cNvSpPr/>
          <p:nvPr/>
        </p:nvSpPr>
        <p:spPr>
          <a:xfrm>
            <a:off x="4183979" y="5385278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2" name="Isosceles Triangle 41"/>
          <p:cNvSpPr/>
          <p:nvPr/>
        </p:nvSpPr>
        <p:spPr>
          <a:xfrm>
            <a:off x="4534899" y="4696154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Isosceles Triangle 42"/>
          <p:cNvSpPr/>
          <p:nvPr/>
        </p:nvSpPr>
        <p:spPr>
          <a:xfrm>
            <a:off x="4519540" y="421666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7" name="Isosceles Triangle 46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7935" y="29138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6465" y="5873973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67952" y="184660"/>
            <a:ext cx="219483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prstClr val="white"/>
                </a:solidFill>
              </a:rPr>
              <a:t>Dates: 10/16/2018</a:t>
            </a:r>
          </a:p>
          <a:p>
            <a:r>
              <a:rPr lang="en-US" sz="2000" b="1" dirty="0">
                <a:solidFill>
                  <a:prstClr val="white"/>
                </a:solidFill>
              </a:rPr>
              <a:t> </a:t>
            </a:r>
            <a:r>
              <a:rPr lang="en-US" sz="2000" b="1" dirty="0" smtClean="0">
                <a:solidFill>
                  <a:prstClr val="white"/>
                </a:solidFill>
              </a:rPr>
              <a:t>            10/19/2018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Scenarios: 1, 2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</a:p>
          <a:p>
            <a:r>
              <a:rPr lang="en-US" sz="2400" b="1" dirty="0" smtClean="0">
                <a:solidFill>
                  <a:prstClr val="white"/>
                </a:solidFill>
              </a:rPr>
              <a:t>            </a:t>
            </a:r>
            <a:endParaRPr lang="en-US" sz="2400" b="1" u="sng" dirty="0">
              <a:solidFill>
                <a:prstClr val="whit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490266" y="2793288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ounded Rectangle 39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 rot="15937197">
            <a:off x="4419796" y="5332196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4412579" y="2952853"/>
            <a:ext cx="1444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Dir., Vehicle Staging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Emitter Control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711308" y="1721375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183393" y="4918926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858243" y="5086673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92182" y="4218742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5649830" y="4176196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040476" y="1984405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58277" y="1880582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2961109" y="4110424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2845296" y="4299108"/>
            <a:ext cx="1028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630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353" y="60893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264327" y="650865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47" y="973030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2676815" y="1032617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699" y="1308014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>
            <a:off x="2300300" y="1355160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>
            <a:off x="4916764" y="1087390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5323223" y="4029078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9250" y="3700349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03" y="1630416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>
            <a:off x="2256477" y="1672264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70334" y="3453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9" name="Isosceles Triangle 28"/>
          <p:cNvSpPr/>
          <p:nvPr/>
        </p:nvSpPr>
        <p:spPr>
          <a:xfrm>
            <a:off x="5687051" y="4941746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>
            <a:off x="4827248" y="3582025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Isosceles Triangle 31"/>
          <p:cNvSpPr/>
          <p:nvPr/>
        </p:nvSpPr>
        <p:spPr>
          <a:xfrm>
            <a:off x="4827248" y="426850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4827248" y="3964623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258" y="1038406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5744" y="4678821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2863" y="97882"/>
            <a:ext cx="2073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smtClean="0">
                <a:solidFill>
                  <a:prstClr val="white"/>
                </a:solidFill>
              </a:rPr>
              <a:t>Date: 06/26/2018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Scenarios 3,4,6,7</a:t>
            </a:r>
            <a:endParaRPr lang="en-US" sz="2000" b="1" u="sng" dirty="0">
              <a:solidFill>
                <a:prstClr val="white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831137" y="1693450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09250" y="4776303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44420" y="5518915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630590" y="4080512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801351" y="4041553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927938" y="5147363"/>
            <a:ext cx="1028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Test Director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028284" y="2051159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6085" y="1947336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489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353" y="60893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264327" y="650865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47" y="973030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2676815" y="1032617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699" y="1308014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>
            <a:off x="2300300" y="1355160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>
            <a:off x="4916764" y="1087390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5323223" y="4029078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89250" y="3700349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03" y="1630416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>
            <a:off x="2256477" y="1672264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70334" y="3453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9" name="Isosceles Triangle 28"/>
          <p:cNvSpPr/>
          <p:nvPr/>
        </p:nvSpPr>
        <p:spPr>
          <a:xfrm>
            <a:off x="5687051" y="4941746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>
            <a:off x="4827248" y="3582025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Isosceles Triangle 31"/>
          <p:cNvSpPr/>
          <p:nvPr/>
        </p:nvSpPr>
        <p:spPr>
          <a:xfrm>
            <a:off x="4827248" y="426850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4827248" y="3964623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258" y="1038406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5744" y="4678821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1208" y="140175"/>
            <a:ext cx="2073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smtClean="0">
                <a:solidFill>
                  <a:prstClr val="white"/>
                </a:solidFill>
              </a:rPr>
              <a:t>Date: 10/18/2018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Scenarios 5,7</a:t>
            </a:r>
            <a:endParaRPr lang="en-US" sz="2000" b="1" u="sng" dirty="0">
              <a:solidFill>
                <a:prstClr val="white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831137" y="1693450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909250" y="4776303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944420" y="5518915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630590" y="4080512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5801351" y="4041553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927938" y="5147363"/>
            <a:ext cx="1028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Test Director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028284" y="2051159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6085" y="1947336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9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504" y="61796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254010" y="698527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31" y="969722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2679839" y="1040088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572" y="1326562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>
            <a:off x="2577216" y="1396928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>
            <a:off x="4477437" y="4758712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5669124" y="4006243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6959102" y="2879720"/>
            <a:ext cx="228600" cy="228600"/>
          </a:xfrm>
          <a:prstGeom prst="triangl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73199" y="3690244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72" y="1713846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>
            <a:off x="2348616" y="178421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1211" y="344231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9" name="Isosceles Triangle 28"/>
          <p:cNvSpPr/>
          <p:nvPr/>
        </p:nvSpPr>
        <p:spPr>
          <a:xfrm>
            <a:off x="5687051" y="4941746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>
            <a:off x="4827248" y="3582025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Isosceles Triangle 31"/>
          <p:cNvSpPr/>
          <p:nvPr/>
        </p:nvSpPr>
        <p:spPr>
          <a:xfrm>
            <a:off x="4827248" y="426850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4827248" y="3964623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9306" y="4602398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47905" y="4503680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7386" y="195838"/>
            <a:ext cx="21764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prstClr val="white"/>
                </a:solidFill>
              </a:rPr>
              <a:t>Dates: 06/26/2018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 7</a:t>
            </a:r>
            <a:endParaRPr lang="en-US" sz="2000" b="1" u="sng" dirty="0">
              <a:solidFill>
                <a:prstClr val="white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831137" y="1693450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83393" y="4918926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56112" y="5676510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921507" y="4070175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102540" y="4008656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213782" y="5316241"/>
            <a:ext cx="1028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Test Director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050257" y="211330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8058" y="2009479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357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03"/>
            <a:ext cx="9067800" cy="6726637"/>
          </a:xfrm>
          <a:prstGeom prst="rect">
            <a:avLst/>
          </a:prstGeom>
        </p:spPr>
      </p:pic>
      <p:sp>
        <p:nvSpPr>
          <p:cNvPr id="5" name="Isosceles Triangle 4"/>
          <p:cNvSpPr/>
          <p:nvPr/>
        </p:nvSpPr>
        <p:spPr>
          <a:xfrm>
            <a:off x="796669" y="4118478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8199108" y="5839266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268" y="258618"/>
            <a:ext cx="3001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P-RF/AFRL EO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8" name="Isosceles Triangle 7"/>
          <p:cNvSpPr/>
          <p:nvPr/>
        </p:nvSpPr>
        <p:spPr>
          <a:xfrm>
            <a:off x="3094483" y="28317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504" y="617960"/>
            <a:ext cx="322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ESCAPE Payload Locations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0" name="Isosceles Triangle 9"/>
          <p:cNvSpPr/>
          <p:nvPr/>
        </p:nvSpPr>
        <p:spPr>
          <a:xfrm>
            <a:off x="3254010" y="698527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31" y="969722"/>
            <a:ext cx="2625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MTRI UHF Radar Location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>
            <a:off x="2679839" y="1040088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572" y="1326562"/>
            <a:ext cx="221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Acoustic Sensor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/>
        </p:nvSpPr>
        <p:spPr>
          <a:xfrm>
            <a:off x="2577216" y="1396928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451" y="3549015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13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02–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18" name="Isosceles Triangle 17"/>
          <p:cNvSpPr/>
          <p:nvPr/>
        </p:nvSpPr>
        <p:spPr>
          <a:xfrm>
            <a:off x="4477437" y="4758712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Isosceles Triangle 18"/>
          <p:cNvSpPr/>
          <p:nvPr/>
        </p:nvSpPr>
        <p:spPr>
          <a:xfrm>
            <a:off x="5669124" y="4006243"/>
            <a:ext cx="228600" cy="228600"/>
          </a:xfrm>
          <a:prstGeom prst="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" name="Isosceles Triangle 19"/>
          <p:cNvSpPr/>
          <p:nvPr/>
        </p:nvSpPr>
        <p:spPr>
          <a:xfrm>
            <a:off x="6959102" y="2879720"/>
            <a:ext cx="228600" cy="228600"/>
          </a:xfrm>
          <a:prstGeom prst="triangle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21" name="Isosceles Triangle 20"/>
          <p:cNvSpPr/>
          <p:nvPr/>
        </p:nvSpPr>
        <p:spPr>
          <a:xfrm>
            <a:off x="7055493" y="2601479"/>
            <a:ext cx="228600" cy="228600"/>
          </a:xfrm>
          <a:prstGeom prst="triangl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12086" y="2446941"/>
            <a:ext cx="12939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00B0F0"/>
                </a:solidFill>
              </a:rPr>
              <a:t>21-MTRI Radar</a:t>
            </a:r>
            <a:endParaRPr lang="en-US" sz="1400" b="1" dirty="0">
              <a:solidFill>
                <a:srgbClr val="00B0F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73199" y="3690244"/>
            <a:ext cx="1457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C000"/>
                </a:solidFill>
              </a:rPr>
              <a:t>31-AFRL Acoustic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72" y="1713846"/>
            <a:ext cx="2208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AFRL Seismic Sensors</a:t>
            </a:r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25" name="Isosceles Triangle 24"/>
          <p:cNvSpPr/>
          <p:nvPr/>
        </p:nvSpPr>
        <p:spPr>
          <a:xfrm>
            <a:off x="2348616" y="178421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Isosceles Triangle 25"/>
          <p:cNvSpPr/>
          <p:nvPr/>
        </p:nvSpPr>
        <p:spPr>
          <a:xfrm>
            <a:off x="5229744" y="846349"/>
            <a:ext cx="228600" cy="22860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11211" y="344231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12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01–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62635" y="5237968"/>
            <a:ext cx="13051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prstClr val="white"/>
                </a:solidFill>
              </a:rPr>
              <a:t>11 – MTRI P-RF</a:t>
            </a:r>
          </a:p>
          <a:p>
            <a:r>
              <a:rPr lang="en-US" sz="1400" b="1" dirty="0" smtClean="0">
                <a:solidFill>
                  <a:prstClr val="white"/>
                </a:solidFill>
              </a:rPr>
              <a:t>03 – AFRL EO</a:t>
            </a:r>
            <a:endParaRPr lang="en-US" sz="1400" b="1" dirty="0">
              <a:solidFill>
                <a:prstClr val="white"/>
              </a:solidFill>
            </a:endParaRPr>
          </a:p>
        </p:txBody>
      </p:sp>
      <p:sp>
        <p:nvSpPr>
          <p:cNvPr id="29" name="Isosceles Triangle 28"/>
          <p:cNvSpPr/>
          <p:nvPr/>
        </p:nvSpPr>
        <p:spPr>
          <a:xfrm>
            <a:off x="5687051" y="4941746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Isosceles Triangle 29"/>
          <p:cNvSpPr/>
          <p:nvPr/>
        </p:nvSpPr>
        <p:spPr>
          <a:xfrm>
            <a:off x="4827248" y="3582025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Isosceles Triangle 31"/>
          <p:cNvSpPr/>
          <p:nvPr/>
        </p:nvSpPr>
        <p:spPr>
          <a:xfrm>
            <a:off x="4827248" y="4268502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Isosceles Triangle 32"/>
          <p:cNvSpPr/>
          <p:nvPr/>
        </p:nvSpPr>
        <p:spPr>
          <a:xfrm>
            <a:off x="4827248" y="3964623"/>
            <a:ext cx="228600" cy="228600"/>
          </a:xfrm>
          <a:prstGeom prst="triangle">
            <a:avLst/>
          </a:prstGeom>
          <a:solidFill>
            <a:srgbClr val="33993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4" name="Isosceles Triangle 33"/>
          <p:cNvSpPr/>
          <p:nvPr/>
        </p:nvSpPr>
        <p:spPr>
          <a:xfrm>
            <a:off x="6877430" y="2600179"/>
            <a:ext cx="228600" cy="228600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12203" y="2221702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04-MTRI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05-MTRI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14-MTRI P-RF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9458" y="4497102"/>
            <a:ext cx="13869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339933"/>
                </a:solidFill>
              </a:rPr>
              <a:t>41-AFRL Seismic</a:t>
            </a:r>
          </a:p>
          <a:p>
            <a:r>
              <a:rPr lang="en-US" sz="1400" b="1" dirty="0" smtClean="0">
                <a:solidFill>
                  <a:srgbClr val="339933"/>
                </a:solidFill>
              </a:rPr>
              <a:t>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3720" y="4680547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06-MTRI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07-MTRI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15-MTRI P-RF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4378" y="4489284"/>
            <a:ext cx="1189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</a:rPr>
              <a:t>08-MTRI EO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09-MTRI IR</a:t>
            </a:r>
          </a:p>
          <a:p>
            <a:r>
              <a:rPr lang="en-US" sz="1400" b="1" dirty="0" smtClean="0">
                <a:solidFill>
                  <a:srgbClr val="FF0000"/>
                </a:solidFill>
              </a:rPr>
              <a:t>16-MTRI P-RF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7386" y="195838"/>
            <a:ext cx="21764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prstClr val="white"/>
                </a:solidFill>
              </a:rPr>
              <a:t>Dates: 10/18/2018</a:t>
            </a:r>
          </a:p>
          <a:p>
            <a:r>
              <a:rPr lang="en-US" sz="2000" b="1" u="sng" dirty="0" smtClean="0">
                <a:solidFill>
                  <a:prstClr val="white"/>
                </a:solidFill>
              </a:rPr>
              <a:t>Scenarios 9</a:t>
            </a:r>
            <a:endParaRPr lang="en-US" sz="2000" b="1" u="sng" dirty="0">
              <a:solidFill>
                <a:prstClr val="white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27248" y="5020322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6831137" y="1693450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Radar, Escape, MTRI P-RF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Control – Walkup tower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183393" y="4918926"/>
            <a:ext cx="731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AFRL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Cameras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256112" y="5676510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Seismic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921507" y="4070175"/>
            <a:ext cx="194869" cy="16704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6102540" y="4008656"/>
            <a:ext cx="722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Acoustic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213782" y="5316241"/>
            <a:ext cx="1028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SUAS Control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Test Director</a:t>
            </a:r>
            <a:endParaRPr lang="en-US" sz="1200" b="1" dirty="0">
              <a:solidFill>
                <a:schemeClr val="bg1"/>
              </a:solidFill>
            </a:endParaRPr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7106030" y="2115066"/>
            <a:ext cx="178063" cy="4851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046149" y="2163809"/>
            <a:ext cx="386534" cy="1670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3950" y="2059986"/>
            <a:ext cx="1995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Personnel Location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934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00200" y="3505200"/>
            <a:ext cx="618977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solidFill>
                  <a:prstClr val="black"/>
                </a:solidFill>
              </a:rPr>
              <a:t>d##s##r##</a:t>
            </a:r>
            <a:r>
              <a:rPr lang="en-US" sz="4400" b="1" dirty="0" err="1" smtClean="0">
                <a:solidFill>
                  <a:prstClr val="black"/>
                </a:solidFill>
              </a:rPr>
              <a:t>yyyymmdd</a:t>
            </a:r>
            <a:r>
              <a:rPr lang="en-US" sz="4400" b="1" dirty="0" smtClean="0">
                <a:solidFill>
                  <a:prstClr val="black"/>
                </a:solidFill>
              </a:rPr>
              <a:t>.***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2200" y="2020529"/>
            <a:ext cx="42455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D</a:t>
            </a:r>
            <a:r>
              <a:rPr lang="en-US" dirty="0" smtClean="0">
                <a:solidFill>
                  <a:prstClr val="black"/>
                </a:solidFill>
              </a:rPr>
              <a:t>: Device # (refer to map)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S: Scenario # (provided by test coordinator)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R: Run # (provided by test coordinator)</a:t>
            </a:r>
          </a:p>
          <a:p>
            <a:r>
              <a:rPr lang="en-US" dirty="0" smtClean="0">
                <a:solidFill>
                  <a:prstClr val="black"/>
                </a:solidFill>
              </a:rPr>
              <a:t>Date: </a:t>
            </a:r>
            <a:r>
              <a:rPr lang="en-US" dirty="0" err="1" smtClean="0">
                <a:solidFill>
                  <a:prstClr val="black"/>
                </a:solidFill>
              </a:rPr>
              <a:t>YearMonthDay</a:t>
            </a:r>
            <a:r>
              <a:rPr lang="en-US" dirty="0" smtClean="0">
                <a:solidFill>
                  <a:prstClr val="black"/>
                </a:solidFill>
              </a:rPr>
              <a:t>, </a:t>
            </a:r>
            <a:r>
              <a:rPr lang="en-US" dirty="0" err="1" smtClean="0">
                <a:solidFill>
                  <a:prstClr val="black"/>
                </a:solidFill>
              </a:rPr>
              <a:t>yyyymmdd</a:t>
            </a:r>
            <a:endParaRPr lang="en-US" dirty="0" smtClean="0">
              <a:solidFill>
                <a:prstClr val="black"/>
              </a:solidFill>
            </a:endParaRPr>
          </a:p>
          <a:p>
            <a:r>
              <a:rPr lang="en-US" dirty="0" smtClean="0">
                <a:solidFill>
                  <a:prstClr val="black"/>
                </a:solidFill>
              </a:rPr>
              <a:t># are formatted: 01, 2a, 2b, 2c, 03, etc.</a:t>
            </a:r>
          </a:p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18360" y="221740"/>
            <a:ext cx="2707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</a:rPr>
              <a:t>Naming Convention</a:t>
            </a:r>
            <a:endParaRPr lang="en-US" sz="24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0200" y="686314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prstClr val="black"/>
                </a:solidFill>
              </a:rPr>
              <a:t>Each collection device will have a specific naming convention for each data file of collected data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005655"/>
      </p:ext>
    </p:extLst>
  </p:cSld>
  <p:clrMapOvr>
    <a:masterClrMapping/>
  </p:clrMapOvr>
</p:sld>
</file>

<file path=ppt/theme/theme1.xml><?xml version="1.0" encoding="utf-8"?>
<a:theme xmlns:a="http://schemas.openxmlformats.org/drawingml/2006/main" name="AFRL Briefing Template 9FEB11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3120A9589F634E96653A1491963745" ma:contentTypeVersion="1" ma:contentTypeDescription="Create a new document." ma:contentTypeScope="" ma:versionID="95aac532491049abcb21059ee8496396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Props1.xml><?xml version="1.0" encoding="utf-8"?>
<ds:datastoreItem xmlns:ds="http://schemas.openxmlformats.org/officeDocument/2006/customXml" ds:itemID="{C0565FAF-FB13-4806-9CDA-99D08956CC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997F2F-0988-49FF-9204-870220208138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1A8D7BA-4071-4DF3-8019-E7E33DD18C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57173</TotalTime>
  <Words>663</Words>
  <Application>Microsoft Office PowerPoint</Application>
  <PresentationFormat>On-screen Show (4:3)</PresentationFormat>
  <Paragraphs>228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Wingdings</vt:lpstr>
      <vt:lpstr>AFRL Briefing Template 9FEB11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U.S. Air Force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jenkinm2</dc:creator>
  <cp:lastModifiedBy>ZULCH, PETER A CIV USAF AFMC AFRL/RIGC</cp:lastModifiedBy>
  <cp:revision>408</cp:revision>
  <cp:lastPrinted>2018-05-03T18:58:10Z</cp:lastPrinted>
  <dcterms:created xsi:type="dcterms:W3CDTF">2011-02-10T15:04:44Z</dcterms:created>
  <dcterms:modified xsi:type="dcterms:W3CDTF">2020-12-20T22:39:03Z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0x010100703120A9589F634E96653A1491963745</vt:lpwstr>
  </property>
</Properties>
</file>